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70" r:id="rId12"/>
    <p:sldId id="265" r:id="rId13"/>
    <p:sldId id="266" r:id="rId14"/>
    <p:sldId id="269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936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D8695-C6AF-AC52-3212-AD55D2C60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D953-E40D-B564-B175-E94509207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EC1D5-9AF5-50F5-D054-A5AA800C4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01600-10F7-779E-C5C2-D897CA55A7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01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6CA2D-9D0E-212A-5E84-6EE740B27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A2D98-616A-799F-1400-1F68CD39C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4EE69-BE26-0C16-77A4-1F2B2C6A5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FD0FB-FE10-51CC-03AE-E94C9CF97D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6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7284C-6229-9742-30BD-7B9B80CE7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25BF9-52D1-3862-C4FC-248CE35D7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80D70-ED63-C621-0A75-BABBC744F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BC015-F8F6-11F0-EE5A-F326FEA85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419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2733"/>
                </a:solidFill>
              </a:rPr>
              <a:t>Trayectorias de protones en campos magnéticos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2402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45B9E"/>
                </a:solidFill>
              </a:rPr>
              <a:t>Comparación entre Tierra y Marte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57180"/>
                </a:solidFill>
              </a:rPr>
              <a:t>Proyecto de Astrofísica Computacional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57180"/>
                </a:solidFill>
              </a:rPr>
              <a:t>Juan Manuel González Porras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51960" y="4315968"/>
            <a:ext cx="3703320" cy="0"/>
          </a:xfrm>
          <a:prstGeom prst="line">
            <a:avLst/>
          </a:prstGeom>
          <a:noFill/>
          <a:ln w="27940">
            <a:solidFill>
              <a:srgbClr val="C96A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Presentación del proyecto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101852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3"/>
                </a:solidFill>
              </a:rPr>
              <a:t>Astrofísica Computacional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3"/>
                </a:solidFill>
              </a:rPr>
              <a:t>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5B9E"/>
                </a:solidFill>
              </a:rPr>
              <a:t>Idea principal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2002536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987552" y="1874520"/>
            <a:ext cx="4681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</a:rPr>
              <a:t>Seguir numéricamente la trayectoria de protones de 10 MeV.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706624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987552" y="2578608"/>
            <a:ext cx="4681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</a:rPr>
              <a:t>Comparar un campo dipolar global (Tierra) con un campo local simplificado (Marte).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3410712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987552" y="3282696"/>
            <a:ext cx="4681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D2733"/>
                </a:solidFill>
              </a:rPr>
              <a:t>Cambiar posición y velocidad inicial para estudiar tres geometrías distintas.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1755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46520" y="40690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50" dirty="0"/>
          </a:p>
        </p:txBody>
      </p:sp>
      <p:pic>
        <p:nvPicPr>
          <p:cNvPr id="17" name="Imagen 16" descr="El increíble plan de la NASA para transformar a Marte en un planeta  habitable para los seres humanos - BBC News Mundo">
            <a:extLst>
              <a:ext uri="{FF2B5EF4-FFF2-40B4-BE49-F238E27FC236}">
                <a16:creationId xmlns:a16="http://schemas.microsoft.com/office/drawing/2014/main" id="{E08A406B-73E7-7339-2D5C-4105DA5CB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503927"/>
            <a:ext cx="5609246" cy="31552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físico usado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101852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585216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7180"/>
                </a:solidFill>
              </a:rPr>
              <a:t>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3"/>
                </a:solidFill>
              </a:rPr>
              <a:t>Astrofísica Computacional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3"/>
                </a:solidFill>
              </a:rPr>
              <a:t>3</a:t>
            </a:r>
            <a:endParaRPr lang="en-US" sz="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8883" y="1508760"/>
            <a:ext cx="965835" cy="59436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99336" y="2331720"/>
            <a:ext cx="2893568" cy="73152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65" y="3310128"/>
            <a:ext cx="3907271" cy="6583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5B9E"/>
                </a:solidFill>
              </a:rPr>
              <a:t>Esto </a:t>
            </a:r>
            <a:r>
              <a:rPr lang="en-US" sz="2100" b="1" dirty="0" err="1">
                <a:solidFill>
                  <a:srgbClr val="245B9E"/>
                </a:solidFill>
              </a:rPr>
              <a:t>significa</a:t>
            </a:r>
            <a:r>
              <a:rPr lang="en-US" sz="2100" b="1" dirty="0">
                <a:solidFill>
                  <a:srgbClr val="245B9E"/>
                </a:solidFill>
              </a:rPr>
              <a:t> </a:t>
            </a:r>
            <a:r>
              <a:rPr lang="en-US" sz="2100" b="1" dirty="0" err="1">
                <a:solidFill>
                  <a:srgbClr val="245B9E"/>
                </a:solidFill>
              </a:rPr>
              <a:t>que</a:t>
            </a:r>
            <a:r>
              <a:rPr lang="en-US" sz="2100" b="1" dirty="0">
                <a:solidFill>
                  <a:srgbClr val="245B9E"/>
                </a:solidFill>
              </a:rPr>
              <a:t>:</a:t>
            </a:r>
            <a:endParaRPr lang="en-US" sz="2100" dirty="0"/>
          </a:p>
        </p:txBody>
      </p:sp>
      <p:sp>
        <p:nvSpPr>
          <p:cNvPr id="11" name="Shape 6"/>
          <p:cNvSpPr/>
          <p:nvPr/>
        </p:nvSpPr>
        <p:spPr>
          <a:xfrm>
            <a:off x="6400800" y="2139696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7"/>
          <p:cNvSpPr/>
          <p:nvPr/>
        </p:nvSpPr>
        <p:spPr>
          <a:xfrm>
            <a:off x="6565392" y="2011680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D2733"/>
                </a:solidFill>
              </a:rPr>
              <a:t>El campo magnético cambia la dirección de la velocidad, no su módulo.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6400800" y="2871216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9"/>
          <p:cNvSpPr/>
          <p:nvPr/>
        </p:nvSpPr>
        <p:spPr>
          <a:xfrm>
            <a:off x="6565392" y="2743200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D2733"/>
                </a:solidFill>
              </a:rPr>
              <a:t>La componente perpendicular genera el movimiento ciclotrón.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6400800" y="3602736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1"/>
          <p:cNvSpPr/>
          <p:nvPr/>
        </p:nvSpPr>
        <p:spPr>
          <a:xfrm>
            <a:off x="6565392" y="3474720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D2733"/>
                </a:solidFill>
              </a:rPr>
              <a:t>La componente paralela permite seguir las líneas de campo y observar reflexión magnética.</a:t>
            </a:r>
            <a:endParaRPr lang="en-US" sz="16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4660" y="4526280"/>
            <a:ext cx="376428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Campo magnético en cada planeta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101852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3"/>
                </a:solidFill>
              </a:rPr>
              <a:t>Astrofísica Computacional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3"/>
                </a:solidFill>
              </a:rPr>
              <a:t>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212080" cy="4434840"/>
          </a:xfrm>
          <a:prstGeom prst="rect">
            <a:avLst/>
          </a:prstGeom>
          <a:solidFill>
            <a:srgbClr val="F4F8FD"/>
          </a:solidFill>
          <a:ln w="12700">
            <a:solidFill>
              <a:srgbClr val="C9D9E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1024128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5B9E"/>
                </a:solidFill>
              </a:rPr>
              <a:t>Tierra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520" y="2423160"/>
            <a:ext cx="4358640" cy="7132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51560" y="3584448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7"/>
          <p:cNvSpPr/>
          <p:nvPr/>
        </p:nvSpPr>
        <p:spPr>
          <a:xfrm>
            <a:off x="1216152" y="345643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</a:rPr>
              <a:t>Aproximación dipolar global.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51560" y="4224528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9"/>
          <p:cNvSpPr/>
          <p:nvPr/>
        </p:nvSpPr>
        <p:spPr>
          <a:xfrm>
            <a:off x="1216152" y="409651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</a:rPr>
              <a:t>El campo existe alrededor de todo el planeta.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45352" y="1417320"/>
            <a:ext cx="5212080" cy="4434840"/>
          </a:xfrm>
          <a:prstGeom prst="rect">
            <a:avLst/>
          </a:prstGeom>
          <a:solidFill>
            <a:srgbClr val="FFF8F3"/>
          </a:solidFill>
          <a:ln w="12700">
            <a:solidFill>
              <a:srgbClr val="E8D3C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1"/>
          <p:cNvSpPr/>
          <p:nvPr/>
        </p:nvSpPr>
        <p:spPr>
          <a:xfrm>
            <a:off x="653796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6A35"/>
                </a:solidFill>
              </a:rPr>
              <a:t>Marte</a:t>
            </a:r>
            <a:endParaRPr lang="en-US" sz="2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6520" y="2545700"/>
            <a:ext cx="4572000" cy="41328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565392" y="3529584"/>
            <a:ext cx="82296" cy="82296"/>
          </a:xfrm>
          <a:prstGeom prst="ellipse">
            <a:avLst/>
          </a:prstGeom>
          <a:solidFill>
            <a:srgbClr val="C96A35"/>
          </a:solidFill>
          <a:ln w="12700">
            <a:solidFill>
              <a:srgbClr val="C96A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3"/>
          <p:cNvSpPr/>
          <p:nvPr/>
        </p:nvSpPr>
        <p:spPr>
          <a:xfrm>
            <a:off x="6729984" y="3401568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</a:rPr>
              <a:t>Modelo simple de tres dipolos locales bajo la superficie.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565392" y="4224528"/>
            <a:ext cx="82296" cy="82296"/>
          </a:xfrm>
          <a:prstGeom prst="ellipse">
            <a:avLst/>
          </a:prstGeom>
          <a:solidFill>
            <a:srgbClr val="C96A35"/>
          </a:solidFill>
          <a:ln w="12700">
            <a:solidFill>
              <a:srgbClr val="C96A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5"/>
          <p:cNvSpPr/>
          <p:nvPr/>
        </p:nvSpPr>
        <p:spPr>
          <a:xfrm>
            <a:off x="6729984" y="409651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</a:rPr>
              <a:t>La interacción fuerte queda concentrada cerca de las anomalías.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Planteamiento computacional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101852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585216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3"/>
                </a:solidFill>
              </a:rPr>
              <a:t>Astrofísica Computacional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3"/>
                </a:solidFill>
              </a:rPr>
              <a:t>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733"/>
                </a:solidFill>
              </a:rPr>
              <a:t>En Python se trabaja con el estado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059940"/>
            <a:ext cx="4023360" cy="406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245B9E"/>
                </a:solidFill>
              </a:rPr>
              <a:t>Método</a:t>
            </a:r>
            <a:r>
              <a:rPr lang="en-US" sz="2000" b="1" dirty="0">
                <a:solidFill>
                  <a:srgbClr val="245B9E"/>
                </a:solidFill>
              </a:rPr>
              <a:t>: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68680" y="3511296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8"/>
          <p:cNvSpPr/>
          <p:nvPr/>
        </p:nvSpPr>
        <p:spPr>
          <a:xfrm>
            <a:off x="1033272" y="3383280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</a:rPr>
              <a:t>Runge-Kutta de segundo orden (RK2) para avanzar en el tiempo.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68680" y="4224528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0"/>
          <p:cNvSpPr/>
          <p:nvPr/>
        </p:nvSpPr>
        <p:spPr>
          <a:xfrm>
            <a:off x="1033272" y="4096512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</a:rPr>
              <a:t>Paso temporal pequeño para resolver el giro del protón.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5508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C96A35"/>
                </a:solidFill>
              </a:rPr>
              <a:t>Analisis</a:t>
            </a:r>
            <a:r>
              <a:rPr lang="en-US" sz="2000" b="1" dirty="0">
                <a:solidFill>
                  <a:srgbClr val="C96A35"/>
                </a:solidFill>
              </a:rPr>
              <a:t> Extra: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400800" y="2093976"/>
            <a:ext cx="82296" cy="82296"/>
          </a:xfrm>
          <a:prstGeom prst="ellipse">
            <a:avLst/>
          </a:prstGeom>
          <a:solidFill>
            <a:srgbClr val="C96A35"/>
          </a:solidFill>
          <a:ln w="12700">
            <a:solidFill>
              <a:srgbClr val="C96A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3"/>
          <p:cNvSpPr/>
          <p:nvPr/>
        </p:nvSpPr>
        <p:spPr>
          <a:xfrm>
            <a:off x="6565392" y="1965960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</a:rPr>
              <a:t>Error numérico usando la conservación de |v|.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0" y="2825496"/>
            <a:ext cx="82296" cy="82296"/>
          </a:xfrm>
          <a:prstGeom prst="ellipse">
            <a:avLst/>
          </a:prstGeom>
          <a:solidFill>
            <a:srgbClr val="C96A35"/>
          </a:solidFill>
          <a:ln w="12700">
            <a:solidFill>
              <a:srgbClr val="C96A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5"/>
          <p:cNvSpPr/>
          <p:nvPr/>
        </p:nvSpPr>
        <p:spPr>
          <a:xfrm>
            <a:off x="6565392" y="2697480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</a:rPr>
              <a:t>Búsqueda de la distancia mínima r(t).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0800" y="3557016"/>
            <a:ext cx="82296" cy="82296"/>
          </a:xfrm>
          <a:prstGeom prst="ellipse">
            <a:avLst/>
          </a:prstGeom>
          <a:solidFill>
            <a:srgbClr val="C96A35"/>
          </a:solidFill>
          <a:ln w="12700">
            <a:solidFill>
              <a:srgbClr val="C96A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7"/>
          <p:cNvSpPr/>
          <p:nvPr/>
        </p:nvSpPr>
        <p:spPr>
          <a:xfrm>
            <a:off x="6565392" y="3429000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</a:rPr>
              <a:t>v∥(t) para detectar cambios de signo y reflexión.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0800" y="4288536"/>
            <a:ext cx="82296" cy="82296"/>
          </a:xfrm>
          <a:prstGeom prst="ellipse">
            <a:avLst/>
          </a:prstGeom>
          <a:solidFill>
            <a:srgbClr val="C96A35"/>
          </a:solidFill>
          <a:ln w="12700">
            <a:solidFill>
              <a:srgbClr val="C96A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19"/>
          <p:cNvSpPr/>
          <p:nvPr/>
        </p:nvSpPr>
        <p:spPr>
          <a:xfrm>
            <a:off x="6565392" y="4160520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</a:rPr>
              <a:t>|B(t)| para relacionar la trayectoria con la intensidad del campo.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68680" y="5257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casos simulados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101852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3"/>
                </a:solidFill>
              </a:rPr>
              <a:t>Astrofísica Computacional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3"/>
                </a:solidFill>
              </a:rPr>
              <a:t>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063240" cy="4297680"/>
          </a:xfrm>
          <a:prstGeom prst="rect">
            <a:avLst/>
          </a:prstGeom>
          <a:solidFill>
            <a:srgbClr val="F7FAFD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5B9E"/>
                </a:solidFill>
              </a:rPr>
              <a:t>Caso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3042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D2733"/>
                </a:solidFill>
              </a:rPr>
              <a:t>Protón dentro del campo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14400" y="3191256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1078992" y="306324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</a:rPr>
              <a:t>Tierra: r₀ = (1.6R_E,0,0)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14400" y="3941064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1078992" y="3813048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</a:rPr>
              <a:t>Pitch angle de 60°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4690872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1078992" y="4562856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</a:rPr>
              <a:t>Busca gyromotion y bounce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096512" y="1508760"/>
            <a:ext cx="3063240" cy="4297680"/>
          </a:xfrm>
          <a:prstGeom prst="rect">
            <a:avLst/>
          </a:prstGeom>
          <a:solidFill>
            <a:srgbClr val="F7FAFD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4325112" y="1828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5B9E"/>
                </a:solidFill>
              </a:rPr>
              <a:t>Caso 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25112" y="23042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D2733"/>
                </a:solidFill>
              </a:rPr>
              <a:t>Incidencia en dirección −x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325112" y="3191256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4489704" y="306324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</a:rPr>
              <a:t>v₀ = (−v,0,0)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325112" y="3941064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4489704" y="3813048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</a:rPr>
              <a:t>Tierra: interacción local alrededor de 3R_E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325112" y="4690872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/>
          <p:cNvSpPr/>
          <p:nvPr/>
        </p:nvSpPr>
        <p:spPr>
          <a:xfrm>
            <a:off x="4489704" y="4562856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</a:rPr>
              <a:t>Marte: entrada desde lejos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507224" y="1508760"/>
            <a:ext cx="3063240" cy="4297680"/>
          </a:xfrm>
          <a:prstGeom prst="rect">
            <a:avLst/>
          </a:prstGeom>
          <a:solidFill>
            <a:srgbClr val="FFF7F2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7735824" y="1828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6A35"/>
                </a:solidFill>
              </a:rPr>
              <a:t>Caso 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35824" y="23042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D2733"/>
                </a:solidFill>
              </a:rPr>
              <a:t>Incidencia diagonal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7735824" y="3191256"/>
            <a:ext cx="82296" cy="82296"/>
          </a:xfrm>
          <a:prstGeom prst="ellipse">
            <a:avLst/>
          </a:prstGeom>
          <a:solidFill>
            <a:srgbClr val="C96A35"/>
          </a:solidFill>
          <a:ln w="12700">
            <a:solidFill>
              <a:srgbClr val="C96A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/>
          <p:nvPr/>
        </p:nvSpPr>
        <p:spPr>
          <a:xfrm>
            <a:off x="7900416" y="306324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</a:rPr>
              <a:t>r₀ = (10R,3R,0)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735824" y="3941064"/>
            <a:ext cx="82296" cy="82296"/>
          </a:xfrm>
          <a:prstGeom prst="ellipse">
            <a:avLst/>
          </a:prstGeom>
          <a:solidFill>
            <a:srgbClr val="C96A35"/>
          </a:solidFill>
          <a:ln w="12700">
            <a:solidFill>
              <a:srgbClr val="C96A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Text 28"/>
          <p:cNvSpPr/>
          <p:nvPr/>
        </p:nvSpPr>
        <p:spPr>
          <a:xfrm>
            <a:off x="7900416" y="3813048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</a:rPr>
              <a:t>v₀ apunta al centro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735824" y="4690872"/>
            <a:ext cx="82296" cy="82296"/>
          </a:xfrm>
          <a:prstGeom prst="ellipse">
            <a:avLst/>
          </a:prstGeom>
          <a:solidFill>
            <a:srgbClr val="C96A35"/>
          </a:solidFill>
          <a:ln w="12700">
            <a:solidFill>
              <a:srgbClr val="C96A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7900416" y="4562856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</a:rPr>
              <a:t>Sin campo, impactaría el planeta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1 · Protón inicialmente dentro del campo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101852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3"/>
                </a:solidFill>
              </a:rPr>
              <a:t>Astrofísica Computacional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3"/>
                </a:solidFill>
              </a:rPr>
              <a:t>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379476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704088" y="1417320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Tierra</a:t>
            </a:r>
            <a:endParaRPr lang="en-US" sz="1150" dirty="0"/>
          </a:p>
        </p:txBody>
      </p:sp>
      <p:pic>
        <p:nvPicPr>
          <p:cNvPr id="8" name="Image 0" descr="/mnt/data/image(20261010-11414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4055"/>
            <a:ext cx="3703320" cy="393623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26280" y="1325880"/>
            <a:ext cx="379476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7"/>
          <p:cNvSpPr/>
          <p:nvPr/>
        </p:nvSpPr>
        <p:spPr>
          <a:xfrm>
            <a:off x="4636008" y="1417320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Marte</a:t>
            </a:r>
            <a:endParaRPr lang="en-US" sz="1150" dirty="0"/>
          </a:p>
        </p:txBody>
      </p:sp>
      <p:pic>
        <p:nvPicPr>
          <p:cNvPr id="11" name="Image 1" descr="/mnt/data/image(20261010-11482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94055"/>
            <a:ext cx="3703320" cy="39362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549640" y="1325880"/>
            <a:ext cx="3017520" cy="4389120"/>
          </a:xfrm>
          <a:prstGeom prst="rect">
            <a:avLst/>
          </a:prstGeom>
          <a:solidFill>
            <a:srgbClr val="F6F8FA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9"/>
          <p:cNvSpPr/>
          <p:nvPr/>
        </p:nvSpPr>
        <p:spPr>
          <a:xfrm>
            <a:off x="8823960" y="1664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8796528" y="2368296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1"/>
          <p:cNvSpPr/>
          <p:nvPr/>
        </p:nvSpPr>
        <p:spPr>
          <a:xfrm>
            <a:off x="8961120" y="22402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D2733"/>
                </a:solidFill>
              </a:rPr>
              <a:t>Tierra: el protón gira alrededor de la línea de campo y el centro guía se desplaza por el dipolo.</a:t>
            </a:r>
            <a:endParaRPr lang="en-US" sz="1430" dirty="0"/>
          </a:p>
        </p:txBody>
      </p:sp>
      <p:sp>
        <p:nvSpPr>
          <p:cNvPr id="16" name="Shape 12"/>
          <p:cNvSpPr/>
          <p:nvPr/>
        </p:nvSpPr>
        <p:spPr>
          <a:xfrm>
            <a:off x="8796528" y="3374136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3"/>
          <p:cNvSpPr/>
          <p:nvPr/>
        </p:nvSpPr>
        <p:spPr>
          <a:xfrm>
            <a:off x="8961120" y="324612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D2733"/>
                </a:solidFill>
              </a:rPr>
              <a:t>La trayectoria queda confinada cerca del planeta y puede presentar reflexión magnética.</a:t>
            </a:r>
            <a:endParaRPr lang="en-US" sz="1430" dirty="0"/>
          </a:p>
        </p:txBody>
      </p:sp>
      <p:sp>
        <p:nvSpPr>
          <p:cNvPr id="18" name="Shape 14"/>
          <p:cNvSpPr/>
          <p:nvPr/>
        </p:nvSpPr>
        <p:spPr>
          <a:xfrm>
            <a:off x="8796528" y="4379976"/>
            <a:ext cx="82296" cy="82296"/>
          </a:xfrm>
          <a:prstGeom prst="ellipse">
            <a:avLst/>
          </a:prstGeom>
          <a:solidFill>
            <a:srgbClr val="C96A35"/>
          </a:solidFill>
          <a:ln w="12700">
            <a:solidFill>
              <a:srgbClr val="C96A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5"/>
          <p:cNvSpPr/>
          <p:nvPr/>
        </p:nvSpPr>
        <p:spPr>
          <a:xfrm>
            <a:off x="8961120" y="42519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D2733"/>
                </a:solidFill>
              </a:rPr>
              <a:t>Marte: la partícula interactúa solo cerca de la anomalía y luego escapa de la zona magnetizada.</a:t>
            </a:r>
            <a:endParaRPr lang="en-US" sz="14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93341-0422-D02C-AE5B-E16D39424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27384A-AE88-56B0-0A4E-F6B9C6D72F35}"/>
              </a:ext>
            </a:extLst>
          </p:cNvPr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1 · Protón inicialmente dentro del campo(zoom)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D6AA23-356D-252C-2F74-DB1AAD49F0BB}"/>
              </a:ext>
            </a:extLst>
          </p:cNvPr>
          <p:cNvSpPr/>
          <p:nvPr/>
        </p:nvSpPr>
        <p:spPr>
          <a:xfrm>
            <a:off x="566928" y="841248"/>
            <a:ext cx="1101852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E78A49-610C-DF3A-4706-60CE455286BF}"/>
              </a:ext>
            </a:extLst>
          </p:cNvPr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3"/>
                </a:solidFill>
              </a:rPr>
              <a:t>Astrofísica Computacional</a:t>
            </a:r>
            <a:endParaRPr lang="en-US" sz="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75E067A-FA6B-21D9-6FDE-1110C546FDEA}"/>
              </a:ext>
            </a:extLst>
          </p:cNvPr>
          <p:cNvSpPr/>
          <p:nvPr/>
        </p:nvSpPr>
        <p:spPr>
          <a:xfrm>
            <a:off x="1115568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3"/>
                </a:solidFill>
              </a:rPr>
              <a:t>7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5A3404C-9A3F-E14D-0BA4-1CDC719DD0FD}"/>
              </a:ext>
            </a:extLst>
          </p:cNvPr>
          <p:cNvSpPr/>
          <p:nvPr/>
        </p:nvSpPr>
        <p:spPr>
          <a:xfrm>
            <a:off x="594359" y="1325880"/>
            <a:ext cx="4804912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DDE99E-8957-5F75-90F7-AECA88127E28}"/>
              </a:ext>
            </a:extLst>
          </p:cNvPr>
          <p:cNvSpPr/>
          <p:nvPr/>
        </p:nvSpPr>
        <p:spPr>
          <a:xfrm>
            <a:off x="704088" y="1417320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Tierra</a:t>
            </a:r>
            <a:endParaRPr lang="en-US" sz="11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1F0E2B0-789A-B041-5481-5F768B90E669}"/>
              </a:ext>
            </a:extLst>
          </p:cNvPr>
          <p:cNvSpPr/>
          <p:nvPr/>
        </p:nvSpPr>
        <p:spPr>
          <a:xfrm>
            <a:off x="5865961" y="1362454"/>
            <a:ext cx="4960189" cy="4352545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58A157A-E636-7E2B-7C14-320A4E25246A}"/>
              </a:ext>
            </a:extLst>
          </p:cNvPr>
          <p:cNvSpPr/>
          <p:nvPr/>
        </p:nvSpPr>
        <p:spPr>
          <a:xfrm>
            <a:off x="6533388" y="1417320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Marte</a:t>
            </a:r>
            <a:endParaRPr lang="en-US" sz="11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D619C2B-2B1D-21DA-3762-B763E04005ED}"/>
              </a:ext>
            </a:extLst>
          </p:cNvPr>
          <p:cNvSpPr/>
          <p:nvPr/>
        </p:nvSpPr>
        <p:spPr>
          <a:xfrm>
            <a:off x="8823960" y="1664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9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04AC3329-33D8-B735-CACB-97FF145BD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192" y="1824228"/>
            <a:ext cx="3773458" cy="377345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FBF100B4-8E25-8B4D-99C1-F928A0A16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227" y="1687923"/>
            <a:ext cx="3837581" cy="384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583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1 · Gráficas de análisis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101852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3"/>
                </a:solidFill>
              </a:rPr>
              <a:t>Astrofísica Computacional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3"/>
                </a:solidFill>
              </a:rPr>
              <a:t>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182112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612648" y="14173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Tierra · v∥</a:t>
            </a:r>
            <a:endParaRPr lang="en-US" sz="1150" dirty="0"/>
          </a:p>
        </p:txBody>
      </p:sp>
      <p:pic>
        <p:nvPicPr>
          <p:cNvPr id="8" name="Image 0" descr="/mnt/data/image(20261010-11424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77" y="1655064"/>
            <a:ext cx="2907598" cy="1773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41648" y="1325880"/>
            <a:ext cx="3182112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7"/>
          <p:cNvSpPr/>
          <p:nvPr/>
        </p:nvSpPr>
        <p:spPr>
          <a:xfrm>
            <a:off x="4151376" y="14173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Tierra · |B|</a:t>
            </a:r>
            <a:endParaRPr lang="en-US" sz="1150" dirty="0"/>
          </a:p>
        </p:txBody>
      </p:sp>
      <p:pic>
        <p:nvPicPr>
          <p:cNvPr id="11" name="Image 1" descr="/mnt/data/image(20261010-114304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4555" y="1655064"/>
            <a:ext cx="2896299" cy="17739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580376" y="1325880"/>
            <a:ext cx="3182112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9"/>
          <p:cNvSpPr/>
          <p:nvPr/>
        </p:nvSpPr>
        <p:spPr>
          <a:xfrm>
            <a:off x="7690104" y="14173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Tierra · error</a:t>
            </a:r>
            <a:endParaRPr lang="en-US" sz="1150" dirty="0"/>
          </a:p>
        </p:txBody>
      </p:sp>
      <p:pic>
        <p:nvPicPr>
          <p:cNvPr id="14" name="Image 2" descr="/mnt/data/image(20261010-114318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217" y="1655064"/>
            <a:ext cx="2926429" cy="177393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2920" y="3703320"/>
            <a:ext cx="3182112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1"/>
          <p:cNvSpPr/>
          <p:nvPr/>
        </p:nvSpPr>
        <p:spPr>
          <a:xfrm>
            <a:off x="612648" y="379476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Marte · v∥</a:t>
            </a:r>
            <a:endParaRPr lang="en-US" sz="1150" dirty="0"/>
          </a:p>
        </p:txBody>
      </p:sp>
      <p:pic>
        <p:nvPicPr>
          <p:cNvPr id="17" name="Image 3" descr="/mnt/data/image(20261010-114841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177" y="4032504"/>
            <a:ext cx="2907598" cy="177393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041648" y="3703320"/>
            <a:ext cx="3182112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3"/>
          <p:cNvSpPr/>
          <p:nvPr/>
        </p:nvSpPr>
        <p:spPr>
          <a:xfrm>
            <a:off x="4151376" y="379476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Marte · |B|</a:t>
            </a:r>
            <a:endParaRPr lang="en-US" sz="1150" dirty="0"/>
          </a:p>
        </p:txBody>
      </p:sp>
      <p:pic>
        <p:nvPicPr>
          <p:cNvPr id="20" name="Image 4" descr="/mnt/data/image(20261010-114855)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9036" y="4032504"/>
            <a:ext cx="2847337" cy="177393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580376" y="3703320"/>
            <a:ext cx="3182112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15"/>
          <p:cNvSpPr/>
          <p:nvPr/>
        </p:nvSpPr>
        <p:spPr>
          <a:xfrm>
            <a:off x="7690104" y="379476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Marte · error</a:t>
            </a:r>
            <a:endParaRPr lang="en-US" sz="1150" dirty="0"/>
          </a:p>
        </p:txBody>
      </p:sp>
      <p:pic>
        <p:nvPicPr>
          <p:cNvPr id="23" name="Image 5" descr="/mnt/data/image(20261010-114914)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8217" y="4032504"/>
            <a:ext cx="2926429" cy="177393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1520" y="598932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57180"/>
                </a:solidFill>
              </a:rPr>
              <a:t>Tierra: v∥ cambia de signo de forma periódica y |B| oscila → comportamiento compatible con bounce. Marte: |B| cae rápidamente cuando el protón abandona la anomalía.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2 · Incidencia en dirección −x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101852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3"/>
                </a:solidFill>
              </a:rPr>
              <a:t>Astrofísica Computacional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3"/>
                </a:solidFill>
              </a:rPr>
              <a:t>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379476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704088" y="1417320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Tierra</a:t>
            </a:r>
            <a:endParaRPr lang="en-US" sz="1150" dirty="0"/>
          </a:p>
        </p:txBody>
      </p:sp>
      <p:pic>
        <p:nvPicPr>
          <p:cNvPr id="8" name="Image 0" descr="/mnt/data/image(20261010-11542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05701"/>
            <a:ext cx="3703320" cy="391294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26280" y="1325880"/>
            <a:ext cx="379476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7"/>
          <p:cNvSpPr/>
          <p:nvPr/>
        </p:nvSpPr>
        <p:spPr>
          <a:xfrm>
            <a:off x="4636008" y="1417320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Marte</a:t>
            </a:r>
            <a:endParaRPr lang="en-US" sz="1150" dirty="0"/>
          </a:p>
        </p:txBody>
      </p:sp>
      <p:pic>
        <p:nvPicPr>
          <p:cNvPr id="11" name="Image 1" descr="/mnt/data/image(20261010-12014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52466"/>
            <a:ext cx="3703320" cy="381941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549640" y="1325880"/>
            <a:ext cx="3017520" cy="4389120"/>
          </a:xfrm>
          <a:prstGeom prst="rect">
            <a:avLst/>
          </a:prstGeom>
          <a:solidFill>
            <a:srgbClr val="F6F8FA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13" name="Text 9"/>
          <p:cNvSpPr/>
          <p:nvPr/>
        </p:nvSpPr>
        <p:spPr>
          <a:xfrm>
            <a:off x="8823960" y="1664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8796528" y="2368296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1"/>
          <p:cNvSpPr/>
          <p:nvPr/>
        </p:nvSpPr>
        <p:spPr>
          <a:xfrm>
            <a:off x="8961120" y="22402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D2733"/>
                </a:solidFill>
              </a:rPr>
              <a:t>Tierra: en el ecuador v₀ es prácticamente perpendicular a B, por eso domina el giro ciclotrón.</a:t>
            </a:r>
            <a:endParaRPr lang="en-US" sz="1430" dirty="0"/>
          </a:p>
        </p:txBody>
      </p:sp>
      <p:sp>
        <p:nvSpPr>
          <p:cNvPr id="16" name="Shape 12"/>
          <p:cNvSpPr/>
          <p:nvPr/>
        </p:nvSpPr>
        <p:spPr>
          <a:xfrm>
            <a:off x="8796528" y="3374136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3"/>
          <p:cNvSpPr/>
          <p:nvPr/>
        </p:nvSpPr>
        <p:spPr>
          <a:xfrm>
            <a:off x="8961120" y="324612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D2733"/>
                </a:solidFill>
              </a:rPr>
              <a:t>La partícula permanece alrededor de ~3R_E en vez de avanzar directamente hacia el planeta.</a:t>
            </a:r>
            <a:endParaRPr lang="en-US" sz="1430" dirty="0"/>
          </a:p>
        </p:txBody>
      </p:sp>
      <p:sp>
        <p:nvSpPr>
          <p:cNvPr id="18" name="Shape 14"/>
          <p:cNvSpPr/>
          <p:nvPr/>
        </p:nvSpPr>
        <p:spPr>
          <a:xfrm>
            <a:off x="8796528" y="4379976"/>
            <a:ext cx="82296" cy="82296"/>
          </a:xfrm>
          <a:prstGeom prst="ellipse">
            <a:avLst/>
          </a:prstGeom>
          <a:solidFill>
            <a:srgbClr val="C96A35"/>
          </a:solidFill>
          <a:ln w="12700">
            <a:solidFill>
              <a:srgbClr val="C96A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5"/>
          <p:cNvSpPr/>
          <p:nvPr/>
        </p:nvSpPr>
        <p:spPr>
          <a:xfrm>
            <a:off x="8961120" y="42519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D2733"/>
                </a:solidFill>
              </a:rPr>
              <a:t>Marte: lejos de las anomalías el campo es muy débil y la trayectoria se mantiene casi recta.</a:t>
            </a:r>
            <a:endParaRPr lang="en-US" sz="14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92CCC-345E-CFF2-F058-577E7BE05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8AC708-FFBF-3376-E4EA-509DBB9F3E9C}"/>
              </a:ext>
            </a:extLst>
          </p:cNvPr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2 · Incidencia en dirección −x (zoom)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C30950C-4316-59B3-67A4-0AAF43F1F4D8}"/>
              </a:ext>
            </a:extLst>
          </p:cNvPr>
          <p:cNvSpPr/>
          <p:nvPr/>
        </p:nvSpPr>
        <p:spPr>
          <a:xfrm>
            <a:off x="566928" y="841248"/>
            <a:ext cx="1101852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9D12637-B65B-166E-8ADD-22213C520904}"/>
              </a:ext>
            </a:extLst>
          </p:cNvPr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3"/>
                </a:solidFill>
              </a:rPr>
              <a:t>Astrofísica Computacional</a:t>
            </a:r>
            <a:endParaRPr lang="en-US" sz="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9B8A31-BDED-5AFF-5247-91AE9A923BC4}"/>
              </a:ext>
            </a:extLst>
          </p:cNvPr>
          <p:cNvSpPr/>
          <p:nvPr/>
        </p:nvSpPr>
        <p:spPr>
          <a:xfrm>
            <a:off x="1115568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3"/>
                </a:solidFill>
              </a:rPr>
              <a:t>9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A1C0DEB-70C4-03D0-357C-8095DBAF53EF}"/>
              </a:ext>
            </a:extLst>
          </p:cNvPr>
          <p:cNvSpPr/>
          <p:nvPr/>
        </p:nvSpPr>
        <p:spPr>
          <a:xfrm>
            <a:off x="594359" y="1325880"/>
            <a:ext cx="4964831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07F7CBE-2875-AEAC-005A-9ED14723A2AA}"/>
              </a:ext>
            </a:extLst>
          </p:cNvPr>
          <p:cNvSpPr/>
          <p:nvPr/>
        </p:nvSpPr>
        <p:spPr>
          <a:xfrm>
            <a:off x="704088" y="1417320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Tierra</a:t>
            </a:r>
            <a:endParaRPr lang="en-US" sz="11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C48A1AC-D5F5-C0C0-55F6-69DC149387E3}"/>
              </a:ext>
            </a:extLst>
          </p:cNvPr>
          <p:cNvSpPr/>
          <p:nvPr/>
        </p:nvSpPr>
        <p:spPr>
          <a:xfrm>
            <a:off x="5978106" y="1325880"/>
            <a:ext cx="4880394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7F8D486-121B-0440-07DD-D43D18016AE4}"/>
              </a:ext>
            </a:extLst>
          </p:cNvPr>
          <p:cNvSpPr/>
          <p:nvPr/>
        </p:nvSpPr>
        <p:spPr>
          <a:xfrm>
            <a:off x="6719218" y="144928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Marte</a:t>
            </a:r>
            <a:endParaRPr lang="en-US" sz="115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667CE130-652A-C488-F051-C23361DF0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155" y="1752466"/>
            <a:ext cx="3865430" cy="381941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1C30D8C6-D91D-0814-4AED-10D266B91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1828010"/>
            <a:ext cx="4336081" cy="374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70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2 · Gráficas de análisis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101852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3"/>
                </a:solidFill>
              </a:rPr>
              <a:t>Astrofísica Computacional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3"/>
                </a:solidFill>
              </a:rPr>
              <a:t>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74320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612648" y="141732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Tierra · distancia</a:t>
            </a:r>
            <a:endParaRPr lang="en-US" sz="1150" dirty="0"/>
          </a:p>
        </p:txBody>
      </p:sp>
      <p:pic>
        <p:nvPicPr>
          <p:cNvPr id="8" name="Image 0" descr="/mnt/data/image(20261010-11550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2059"/>
            <a:ext cx="2651760" cy="161994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01568" y="1325880"/>
            <a:ext cx="274320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7"/>
          <p:cNvSpPr/>
          <p:nvPr/>
        </p:nvSpPr>
        <p:spPr>
          <a:xfrm>
            <a:off x="3511296" y="141732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Tierra · |B|</a:t>
            </a:r>
            <a:endParaRPr lang="en-US" sz="1150" dirty="0"/>
          </a:p>
        </p:txBody>
      </p:sp>
      <p:pic>
        <p:nvPicPr>
          <p:cNvPr id="11" name="Image 1" descr="/mnt/data/image(20261010-115708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739346"/>
            <a:ext cx="2651760" cy="160537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0216" y="1325880"/>
            <a:ext cx="274320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9"/>
          <p:cNvSpPr/>
          <p:nvPr/>
        </p:nvSpPr>
        <p:spPr>
          <a:xfrm>
            <a:off x="6409944" y="141732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Tierra · v∥</a:t>
            </a:r>
            <a:endParaRPr lang="en-US" sz="1150" dirty="0"/>
          </a:p>
        </p:txBody>
      </p:sp>
      <p:pic>
        <p:nvPicPr>
          <p:cNvPr id="14" name="Image 2" descr="/mnt/data/image(20261010-115737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757191"/>
            <a:ext cx="2651760" cy="156968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198864" y="1325880"/>
            <a:ext cx="246888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1"/>
          <p:cNvSpPr/>
          <p:nvPr/>
        </p:nvSpPr>
        <p:spPr>
          <a:xfrm>
            <a:off x="9308592" y="1417320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Tierra · error</a:t>
            </a:r>
            <a:endParaRPr lang="en-US" sz="1150" dirty="0"/>
          </a:p>
        </p:txBody>
      </p:sp>
      <p:pic>
        <p:nvPicPr>
          <p:cNvPr id="17" name="Image 3" descr="/mnt/data/image(20261010-115721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4584" y="1800460"/>
            <a:ext cx="2377440" cy="148314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828800" y="3730752"/>
            <a:ext cx="384048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3"/>
          <p:cNvSpPr/>
          <p:nvPr/>
        </p:nvSpPr>
        <p:spPr>
          <a:xfrm>
            <a:off x="1938528" y="3822192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Marte · distancia</a:t>
            </a:r>
            <a:endParaRPr lang="en-US" sz="1150" dirty="0"/>
          </a:p>
        </p:txBody>
      </p:sp>
      <p:pic>
        <p:nvPicPr>
          <p:cNvPr id="20" name="Image 4" descr="/mnt/data/image(20261010-120707)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0896" y="4059936"/>
            <a:ext cx="2736289" cy="168249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400800" y="3730752"/>
            <a:ext cx="384048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15"/>
          <p:cNvSpPr/>
          <p:nvPr/>
        </p:nvSpPr>
        <p:spPr>
          <a:xfrm>
            <a:off x="6510528" y="3822192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Marte · error</a:t>
            </a:r>
            <a:endParaRPr lang="en-US" sz="1150" dirty="0"/>
          </a:p>
        </p:txBody>
      </p:sp>
      <p:pic>
        <p:nvPicPr>
          <p:cNvPr id="23" name="Image 5" descr="/mnt/data/image(20261010-120724)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2543" y="4059936"/>
            <a:ext cx="2696995" cy="168249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1520" y="598932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57180"/>
                </a:solidFill>
              </a:rPr>
              <a:t>En Tierra la distancia oscila y v∥≈0: es un gyromotion casi puro. En Marte la distancia disminuye casi linealmente hasta la superficie.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3 · Incidencia diagonal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101852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3"/>
                </a:solidFill>
              </a:rPr>
              <a:t>Astrofísica Computacional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3"/>
                </a:solidFill>
              </a:rPr>
              <a:t>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379476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704088" y="1417320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Tierra</a:t>
            </a:r>
            <a:endParaRPr lang="en-US" sz="1150" dirty="0"/>
          </a:p>
        </p:txBody>
      </p:sp>
      <p:pic>
        <p:nvPicPr>
          <p:cNvPr id="8" name="Image 0" descr="/mnt/data/image(20261010-12104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48091"/>
            <a:ext cx="3703320" cy="262816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26280" y="1325880"/>
            <a:ext cx="379476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7"/>
          <p:cNvSpPr/>
          <p:nvPr/>
        </p:nvSpPr>
        <p:spPr>
          <a:xfrm>
            <a:off x="4636008" y="1417320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Marte</a:t>
            </a:r>
            <a:endParaRPr lang="en-US" sz="1150" dirty="0"/>
          </a:p>
        </p:txBody>
      </p:sp>
      <p:pic>
        <p:nvPicPr>
          <p:cNvPr id="11" name="Image 1" descr="/mnt/data/image(20261010-12124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39558"/>
            <a:ext cx="3703320" cy="264522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549640" y="1325880"/>
            <a:ext cx="3017520" cy="4389120"/>
          </a:xfrm>
          <a:prstGeom prst="rect">
            <a:avLst/>
          </a:prstGeom>
          <a:solidFill>
            <a:srgbClr val="F6F8FA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9"/>
          <p:cNvSpPr/>
          <p:nvPr/>
        </p:nvSpPr>
        <p:spPr>
          <a:xfrm>
            <a:off x="8823960" y="1664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2733"/>
                </a:solidFill>
              </a:rPr>
              <a:t>Interpretación física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8796528" y="2368296"/>
            <a:ext cx="82296" cy="82296"/>
          </a:xfrm>
          <a:prstGeom prst="ellipse">
            <a:avLst/>
          </a:prstGeom>
          <a:solidFill>
            <a:srgbClr val="657180"/>
          </a:solidFill>
          <a:ln w="12700">
            <a:solidFill>
              <a:srgbClr val="6571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1"/>
          <p:cNvSpPr/>
          <p:nvPr/>
        </p:nvSpPr>
        <p:spPr>
          <a:xfrm>
            <a:off x="8961120" y="22402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D2733"/>
                </a:solidFill>
              </a:rPr>
              <a:t>La línea discontinua es la trayectoria que seguiría el protón si B=0.</a:t>
            </a:r>
            <a:endParaRPr lang="en-US" sz="1430" dirty="0"/>
          </a:p>
        </p:txBody>
      </p:sp>
      <p:sp>
        <p:nvSpPr>
          <p:cNvPr id="16" name="Shape 12"/>
          <p:cNvSpPr/>
          <p:nvPr/>
        </p:nvSpPr>
        <p:spPr>
          <a:xfrm>
            <a:off x="8796528" y="3255264"/>
            <a:ext cx="82296" cy="82296"/>
          </a:xfrm>
          <a:prstGeom prst="ellipse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3"/>
          <p:cNvSpPr/>
          <p:nvPr/>
        </p:nvSpPr>
        <p:spPr>
          <a:xfrm>
            <a:off x="8961120" y="312724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D2733"/>
                </a:solidFill>
              </a:rPr>
              <a:t>Tierra: el dipolo desvía al protón desde lejos y evita que llegue al planeta.</a:t>
            </a:r>
            <a:endParaRPr lang="en-US" sz="1430" dirty="0"/>
          </a:p>
        </p:txBody>
      </p:sp>
      <p:sp>
        <p:nvSpPr>
          <p:cNvPr id="18" name="Shape 14"/>
          <p:cNvSpPr/>
          <p:nvPr/>
        </p:nvSpPr>
        <p:spPr>
          <a:xfrm>
            <a:off x="8796528" y="4261104"/>
            <a:ext cx="82296" cy="82296"/>
          </a:xfrm>
          <a:prstGeom prst="ellipse">
            <a:avLst/>
          </a:prstGeom>
          <a:solidFill>
            <a:srgbClr val="C96A35"/>
          </a:solidFill>
          <a:ln w="12700">
            <a:solidFill>
              <a:srgbClr val="C96A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5"/>
          <p:cNvSpPr/>
          <p:nvPr/>
        </p:nvSpPr>
        <p:spPr>
          <a:xfrm>
            <a:off x="8961120" y="413308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D2733"/>
                </a:solidFill>
              </a:rPr>
              <a:t>Marte: la trayectoria con y sin campo casi coinciden; el campo local se vuelve importante demasiado tarde.</a:t>
            </a:r>
            <a:endParaRPr lang="en-US" sz="143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F549F5C7-E883-CB8A-2852-441357EC3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165" y="1810512"/>
            <a:ext cx="3703321" cy="382540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321C94FA-5657-CD5C-68C6-47DB3A3F91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728215"/>
            <a:ext cx="3703320" cy="38254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C7A47-A2ED-DEE3-760A-DE193E4B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40D78C-222B-F410-6857-44AABDAE6F0B}"/>
              </a:ext>
            </a:extLst>
          </p:cNvPr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3 · </a:t>
            </a:r>
            <a:r>
              <a:rPr lang="en-US" sz="2600" b="1" dirty="0" err="1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Incidencia</a:t>
            </a:r>
            <a:r>
              <a:rPr lang="en-US" sz="26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diagonal(zoom)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527A5BC-0033-100D-A6C5-F7DD00EC3ADA}"/>
              </a:ext>
            </a:extLst>
          </p:cNvPr>
          <p:cNvSpPr/>
          <p:nvPr/>
        </p:nvSpPr>
        <p:spPr>
          <a:xfrm>
            <a:off x="566928" y="841248"/>
            <a:ext cx="1101852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78EF4C-142C-AF50-A6D9-87E2CECB0169}"/>
              </a:ext>
            </a:extLst>
          </p:cNvPr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3"/>
                </a:solidFill>
              </a:rPr>
              <a:t>Astrofísica Computacional</a:t>
            </a:r>
            <a:endParaRPr lang="en-US" sz="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4A50995-7588-5E34-D632-320C56C58147}"/>
              </a:ext>
            </a:extLst>
          </p:cNvPr>
          <p:cNvSpPr/>
          <p:nvPr/>
        </p:nvSpPr>
        <p:spPr>
          <a:xfrm>
            <a:off x="1115568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3"/>
                </a:solidFill>
              </a:rPr>
              <a:t>11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62E553E-4E15-9DEB-6408-0F91D9EDA5E3}"/>
              </a:ext>
            </a:extLst>
          </p:cNvPr>
          <p:cNvSpPr/>
          <p:nvPr/>
        </p:nvSpPr>
        <p:spPr>
          <a:xfrm>
            <a:off x="594359" y="1325880"/>
            <a:ext cx="5092065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AC7A08B-61FA-C6FF-D32D-9E828E10385B}"/>
              </a:ext>
            </a:extLst>
          </p:cNvPr>
          <p:cNvSpPr/>
          <p:nvPr/>
        </p:nvSpPr>
        <p:spPr>
          <a:xfrm>
            <a:off x="704088" y="1417320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Tierra</a:t>
            </a:r>
            <a:endParaRPr lang="en-US" sz="1150" dirty="0"/>
          </a:p>
        </p:txBody>
      </p:sp>
      <p:pic>
        <p:nvPicPr>
          <p:cNvPr id="8" name="Image 0" descr="/mnt/data/image(20261010-121046).png">
            <a:extLst>
              <a:ext uri="{FF2B5EF4-FFF2-40B4-BE49-F238E27FC236}">
                <a16:creationId xmlns:a16="http://schemas.microsoft.com/office/drawing/2014/main" id="{A9BDB234-8DDE-8AF6-7986-1405B2A30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2348091"/>
            <a:ext cx="4596643" cy="3262134"/>
          </a:xfrm>
          <a:prstGeom prst="rect">
            <a:avLst/>
          </a:prstGeom>
        </p:spPr>
      </p:pic>
      <p:sp>
        <p:nvSpPr>
          <p:cNvPr id="9" name="Shape 6">
            <a:extLst>
              <a:ext uri="{FF2B5EF4-FFF2-40B4-BE49-F238E27FC236}">
                <a16:creationId xmlns:a16="http://schemas.microsoft.com/office/drawing/2014/main" id="{851D1C4F-C400-519D-AAD3-1116BC516294}"/>
              </a:ext>
            </a:extLst>
          </p:cNvPr>
          <p:cNvSpPr/>
          <p:nvPr/>
        </p:nvSpPr>
        <p:spPr>
          <a:xfrm>
            <a:off x="5783580" y="1234440"/>
            <a:ext cx="581406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6C6BFE4-A3C0-34C2-7182-00034ECED0B8}"/>
              </a:ext>
            </a:extLst>
          </p:cNvPr>
          <p:cNvSpPr/>
          <p:nvPr/>
        </p:nvSpPr>
        <p:spPr>
          <a:xfrm>
            <a:off x="5967412" y="1329581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Marte</a:t>
            </a:r>
            <a:endParaRPr lang="en-US" sz="1150" dirty="0"/>
          </a:p>
        </p:txBody>
      </p:sp>
      <p:pic>
        <p:nvPicPr>
          <p:cNvPr id="11" name="Image 1" descr="/mnt/data/image(20261010-121241).png">
            <a:extLst>
              <a:ext uri="{FF2B5EF4-FFF2-40B4-BE49-F238E27FC236}">
                <a16:creationId xmlns:a16="http://schemas.microsoft.com/office/drawing/2014/main" id="{506DC89D-2E1A-7B34-9875-761FA3D3B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412" y="2051957"/>
            <a:ext cx="4981575" cy="355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3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3 · Gráficas de análisis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41248"/>
            <a:ext cx="1101852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3"/>
                </a:solidFill>
              </a:rPr>
              <a:t>Astrofísica Computacional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3"/>
                </a:solidFill>
              </a:rPr>
              <a:t>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182112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612648" y="14173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Tierra · distancia</a:t>
            </a:r>
            <a:endParaRPr lang="en-US" sz="1150" dirty="0"/>
          </a:p>
        </p:txBody>
      </p:sp>
      <p:pic>
        <p:nvPicPr>
          <p:cNvPr id="8" name="Image 0" descr="/mnt/data/image(20261010-12110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76" y="1655064"/>
            <a:ext cx="2885000" cy="17739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41648" y="1325880"/>
            <a:ext cx="3182112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7"/>
          <p:cNvSpPr/>
          <p:nvPr/>
        </p:nvSpPr>
        <p:spPr>
          <a:xfrm>
            <a:off x="4151376" y="14173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Tierra · |B|</a:t>
            </a:r>
            <a:endParaRPr lang="en-US" sz="1150" dirty="0"/>
          </a:p>
        </p:txBody>
      </p:sp>
      <p:pic>
        <p:nvPicPr>
          <p:cNvPr id="11" name="Image 1" descr="/mnt/data/image(20261010-12112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4555" y="1655064"/>
            <a:ext cx="2896299" cy="17739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580376" y="1325880"/>
            <a:ext cx="3182112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9"/>
          <p:cNvSpPr/>
          <p:nvPr/>
        </p:nvSpPr>
        <p:spPr>
          <a:xfrm>
            <a:off x="7690104" y="14173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Tierra · error</a:t>
            </a:r>
            <a:endParaRPr lang="en-US" sz="1150" dirty="0"/>
          </a:p>
        </p:txBody>
      </p:sp>
      <p:pic>
        <p:nvPicPr>
          <p:cNvPr id="14" name="Image 2" descr="/mnt/data/image(20261010-121128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9647" y="1655064"/>
            <a:ext cx="2843570" cy="177393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2920" y="3703320"/>
            <a:ext cx="3182112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1"/>
          <p:cNvSpPr/>
          <p:nvPr/>
        </p:nvSpPr>
        <p:spPr>
          <a:xfrm>
            <a:off x="612648" y="379476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Marte · distancia</a:t>
            </a:r>
            <a:endParaRPr lang="en-US" sz="1150" dirty="0"/>
          </a:p>
        </p:txBody>
      </p:sp>
      <p:pic>
        <p:nvPicPr>
          <p:cNvPr id="17" name="Image 3" descr="/mnt/data/image(20261010-121251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476" y="4032504"/>
            <a:ext cx="2885000" cy="177393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041648" y="3703320"/>
            <a:ext cx="3182112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3"/>
          <p:cNvSpPr/>
          <p:nvPr/>
        </p:nvSpPr>
        <p:spPr>
          <a:xfrm>
            <a:off x="4151376" y="379476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Marte · |B|</a:t>
            </a:r>
            <a:endParaRPr lang="en-US" sz="1150" dirty="0"/>
          </a:p>
        </p:txBody>
      </p:sp>
      <p:pic>
        <p:nvPicPr>
          <p:cNvPr id="20" name="Image 4" descr="/mnt/data/image(20261010-121316)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9036" y="4032504"/>
            <a:ext cx="2847337" cy="177393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580376" y="3703320"/>
            <a:ext cx="3182112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15"/>
          <p:cNvSpPr/>
          <p:nvPr/>
        </p:nvSpPr>
        <p:spPr>
          <a:xfrm>
            <a:off x="7690104" y="379476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2733"/>
                </a:solidFill>
              </a:rPr>
              <a:t>Marte · error</a:t>
            </a:r>
            <a:endParaRPr lang="en-US" sz="1150" dirty="0"/>
          </a:p>
        </p:txBody>
      </p:sp>
      <p:pic>
        <p:nvPicPr>
          <p:cNvPr id="23" name="Image 5" descr="/mnt/data/image(20261010-121329)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5166" y="4032504"/>
            <a:ext cx="2892533" cy="177393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1520" y="598932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57180"/>
                </a:solidFill>
              </a:rPr>
              <a:t>Tierra: el protón alcanza una distancia mínima y luego se aleja. Marte: llega prácticamente hasta la superficie; |B| solo aumenta de forma fuerte al final.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774</Words>
  <Application>Microsoft Office PowerPoint</Application>
  <PresentationFormat>Panorámica</PresentationFormat>
  <Paragraphs>143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Nacional de Colombia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Tierra y Marte: trayectorias de protones</dc:title>
  <dc:subject>Trayectorias de protones en campos magnéticos planetarios</dc:subject>
  <dc:creator>Proyecto de Astrofísica Computacional</dc:creator>
  <cp:lastModifiedBy>Juan Manuel Gonzalez Porras</cp:lastModifiedBy>
  <cp:revision>2</cp:revision>
  <dcterms:created xsi:type="dcterms:W3CDTF">2026-10-10T12:33:58Z</dcterms:created>
  <dcterms:modified xsi:type="dcterms:W3CDTF">2026-10-10T12:59:59Z</dcterms:modified>
</cp:coreProperties>
</file>